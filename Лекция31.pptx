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3" r:id="rId1"/>
  </p:sldMasterIdLst>
  <p:notesMasterIdLst>
    <p:notesMasterId r:id="rId14"/>
  </p:notesMasterIdLst>
  <p:handoutMasterIdLst>
    <p:handoutMasterId r:id="rId15"/>
  </p:handoutMasterIdLst>
  <p:sldIdLst>
    <p:sldId id="256" r:id="rId2"/>
    <p:sldId id="323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24" r:id="rId11"/>
    <p:sldId id="332" r:id="rId12"/>
    <p:sldId id="33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378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E72A47-D8E7-4708-A218-E95F45C843B7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99CBC-5243-4EE6-8E2D-6E1F45C81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26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9D24D-F7AD-4672-8093-387C9A86EF22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9B3BA-A246-4728-806B-126A6412B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34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5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0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94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16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62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7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41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98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8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4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F9A2C-825F-4961-A8B9-9611E97E80FE}" type="datetimeFigureOut">
              <a:rPr lang="en-US" smtClean="0"/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3F533-1FD0-4296-B0D5-FB35874C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9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664983-C492-4954-B39E-026839B22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812751" cy="6858000"/>
          </a:xfrm>
          <a:prstGeom prst="rect">
            <a:avLst/>
          </a:prstGeom>
        </p:spPr>
      </p:pic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>
            <a:off x="1524000" y="2451547"/>
            <a:ext cx="9145905" cy="1150808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91440" tIns="45720" rIns="91440" bIns="45720" numCol="1" anchor="b">
            <a:normAutofit/>
          </a:bodyPr>
          <a:lstStyle/>
          <a:p>
            <a:pPr marL="0" indent="0" latinLnBrk="0">
              <a:buFontTx/>
              <a:buNone/>
            </a:pPr>
            <a:r>
              <a:rPr lang="ru-RU" sz="2400" b="1" dirty="0">
                <a:solidFill>
                  <a:schemeClr val="bg1"/>
                </a:solidFill>
                <a:latin typeface="Kelson Sans RU" charset="0"/>
                <a:ea typeface="Kelson Sans RU" charset="0"/>
              </a:rPr>
              <a:t>История и методология науки и техники в области биотехнических систем и технологий</a:t>
            </a:r>
            <a:endParaRPr lang="ru-RU" altLang="ko-KR" sz="2400" b="1" dirty="0">
              <a:solidFill>
                <a:schemeClr val="bg1"/>
              </a:solidFill>
              <a:latin typeface="Kelson Sans RU" charset="0"/>
              <a:ea typeface="Kelson Sans RU" charset="0"/>
            </a:endParaRP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>
            <a:off x="1524000" y="3602355"/>
            <a:ext cx="9145905" cy="1150808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91440" tIns="45720" rIns="91440" bIns="45720" numCol="1" anchor="t">
            <a:normAutofit/>
          </a:bodyPr>
          <a:lstStyle/>
          <a:p>
            <a:pPr marL="0" indent="0" latinLnBrk="0">
              <a:buFontTx/>
              <a:buNone/>
            </a:pPr>
            <a:r>
              <a:rPr lang="ru-RU" dirty="0">
                <a:solidFill>
                  <a:schemeClr val="bg1"/>
                </a:solidFill>
                <a:latin typeface="Kelson Sans RU" charset="0"/>
                <a:ea typeface="Kelson Sans RU" charset="0"/>
              </a:rPr>
              <a:t>Лекция №3.1 – история и методология развития методов физиологических исследований</a:t>
            </a:r>
          </a:p>
          <a:p>
            <a:r>
              <a:rPr lang="ru-RU" altLang="ko-KR" dirty="0">
                <a:solidFill>
                  <a:schemeClr val="bg1"/>
                </a:solidFill>
                <a:latin typeface="Kelson Sans RU" charset="0"/>
                <a:ea typeface="Kelson Sans RU" charset="0"/>
              </a:rPr>
              <a:t>Юхновский И.А</a:t>
            </a:r>
            <a:endParaRPr lang="ko-KR" altLang="en-US" dirty="0">
              <a:solidFill>
                <a:schemeClr val="bg1"/>
              </a:solidFill>
              <a:latin typeface="Kelson Sans RU" charset="0"/>
              <a:ea typeface="Kelson Sans RU" charset="0"/>
            </a:endParaRPr>
          </a:p>
          <a:p>
            <a:pPr marL="0" indent="0" latinLnBrk="0">
              <a:buFontTx/>
              <a:buNone/>
            </a:pPr>
            <a:endParaRPr lang="ko-KR" altLang="en-US" dirty="0">
              <a:solidFill>
                <a:schemeClr val="bg1"/>
              </a:solidFill>
              <a:latin typeface="Kelson Sans RU" charset="0"/>
              <a:ea typeface="Kelson Sans RU" charset="0"/>
            </a:endParaRPr>
          </a:p>
        </p:txBody>
      </p:sp>
      <p:pic>
        <p:nvPicPr>
          <p:cNvPr id="4" name="Рисунок 5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10635" cy="19913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3952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8140" cy="132842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rtl="0" latinLnBrk="0">
              <a:buFontTx/>
              <a:buNone/>
            </a:pPr>
            <a:r>
              <a:rPr lang="ru-RU" sz="4400">
                <a:latin typeface="Kelson Sans RU" charset="0"/>
                <a:ea typeface="Kelson Sans RU" charset="0"/>
              </a:rPr>
              <a:t>1780г - Молочная кислота</a:t>
            </a:r>
            <a:endParaRPr lang="ko-KR" altLang="en-US" sz="4400">
              <a:latin typeface="Kelson Sans RU" charset="0"/>
              <a:ea typeface="Kelson Sans RU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>
            <a:off x="3632835" y="1486535"/>
            <a:ext cx="8008620" cy="230822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Шееле понял, что наиболее частым веществом, которое образуется из углеводов является молочная кислота (например, квашение).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глюкоза -&gt; молочная кислота  - гликолиз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Биохимики в начале 20-х годов стали находить методом Шееле молочную кислоту в мышцах.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1907 г. У.Флетчер и  Ф.Хопкинс установили, что при анаэробном мышечном сокращении образуется молочная кислота. Молочная кислота тем более накапливается, чем более мышцей совершено работы.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</p:txBody>
      </p:sp>
      <p:pic>
        <p:nvPicPr>
          <p:cNvPr id="5" name="Рисунок 1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645" y="1624965"/>
            <a:ext cx="1463040" cy="1972310"/>
          </a:xfrm>
          <a:prstGeom prst="rect">
            <a:avLst/>
          </a:prstGeom>
          <a:noFill/>
        </p:spPr>
      </p:pic>
      <p:sp>
        <p:nvSpPr>
          <p:cNvPr id="6" name="Текстовое поле 2"/>
          <p:cNvSpPr txBox="1">
            <a:spLocks/>
          </p:cNvSpPr>
          <p:nvPr/>
        </p:nvSpPr>
        <p:spPr>
          <a:xfrm>
            <a:off x="205105" y="3665855"/>
            <a:ext cx="1713230" cy="24701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ctr" latinLnBrk="0" hangingPunct="1">
              <a:buFontTx/>
              <a:buNone/>
            </a:pPr>
            <a:r>
              <a:rPr sz="1000" b="0" i="0">
                <a:solidFill>
                  <a:srgbClr val="000000"/>
                </a:solidFill>
                <a:latin typeface="Georgia" charset="0"/>
                <a:ea typeface="Linux Libertine" charset="0"/>
              </a:rPr>
              <a:t>Шееле, Карл Вильгельм</a:t>
            </a:r>
            <a:endParaRPr lang="ko-KR" altLang="en-US" sz="1000" b="0" i="0">
              <a:solidFill>
                <a:srgbClr val="000000"/>
              </a:solidFill>
              <a:latin typeface="Georgia" charset="0"/>
              <a:ea typeface="Linux Libertine" charset="0"/>
            </a:endParaRPr>
          </a:p>
        </p:txBody>
      </p:sp>
      <p:pic>
        <p:nvPicPr>
          <p:cNvPr id="7" name="Рисунок 3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7245" y="3794125"/>
            <a:ext cx="3114040" cy="1551305"/>
          </a:xfrm>
          <a:prstGeom prst="rect">
            <a:avLst/>
          </a:prstGeom>
          <a:noFill/>
        </p:spPr>
      </p:pic>
      <p:pic>
        <p:nvPicPr>
          <p:cNvPr id="10" name="Рисунок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260" y="1606550"/>
            <a:ext cx="1427480" cy="2016125"/>
          </a:xfrm>
          <a:prstGeom prst="rect">
            <a:avLst/>
          </a:prstGeom>
          <a:noFill/>
        </p:spPr>
      </p:pic>
      <p:sp>
        <p:nvSpPr>
          <p:cNvPr id="11" name="Текстовое поле 2"/>
          <p:cNvSpPr txBox="1">
            <a:spLocks/>
          </p:cNvSpPr>
          <p:nvPr/>
        </p:nvSpPr>
        <p:spPr>
          <a:xfrm>
            <a:off x="1937385" y="3659505"/>
            <a:ext cx="1434465" cy="24701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ctr" latinLnBrk="0" hangingPunct="1">
              <a:buFontTx/>
              <a:buNone/>
            </a:pPr>
            <a:r>
              <a:rPr sz="1000" b="0" i="0">
                <a:solidFill>
                  <a:srgbClr val="000000"/>
                </a:solidFill>
                <a:latin typeface="Georgia" charset="0"/>
                <a:ea typeface="Linux Libertine" charset="0"/>
              </a:rPr>
              <a:t>Мейергоф, Отто</a:t>
            </a:r>
            <a:endParaRPr lang="ko-KR" altLang="en-US" sz="1000" b="0" i="0">
              <a:solidFill>
                <a:srgbClr val="000000"/>
              </a:solidFill>
              <a:latin typeface="Georgia" charset="0"/>
              <a:ea typeface="Linux Libertine" charset="0"/>
            </a:endParaRPr>
          </a:p>
        </p:txBody>
      </p:sp>
      <p:sp>
        <p:nvSpPr>
          <p:cNvPr id="12" name="Текстовое поле 3"/>
          <p:cNvSpPr txBox="1">
            <a:spLocks/>
          </p:cNvSpPr>
          <p:nvPr/>
        </p:nvSpPr>
        <p:spPr>
          <a:xfrm>
            <a:off x="8206740" y="3908425"/>
            <a:ext cx="3711575" cy="116967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ru-RU" sz="1400">
                <a:solidFill>
                  <a:srgbClr val="666666"/>
                </a:solidFill>
                <a:latin typeface="Kelson Sans RU" charset="0"/>
                <a:ea typeface="Kelson Sans RU" charset="0"/>
              </a:rPr>
              <a:t>Энантиомеры молочной кислоты: L-(-)-молочная кислота (слева) и D-(+)-молочная кислота (справа)</a:t>
            </a:r>
            <a:endParaRPr lang="ko-KR" altLang="en-US" sz="14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endParaRPr lang="ko-KR" altLang="en-US" sz="14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sz="1400">
                <a:solidFill>
                  <a:srgbClr val="666666"/>
                </a:solidFill>
                <a:latin typeface="Kelson Sans RU" charset="0"/>
                <a:ea typeface="Kelson Sans RU" charset="0"/>
              </a:rPr>
              <a:t>2-​гидроксипропановая кислота</a:t>
            </a:r>
            <a:endParaRPr lang="ko-KR" altLang="en-US" sz="1400">
              <a:latin typeface="Segoe UI" charset="0"/>
              <a:ea typeface="Segoe UI" charset="0"/>
            </a:endParaRPr>
          </a:p>
        </p:txBody>
      </p:sp>
      <p:pic>
        <p:nvPicPr>
          <p:cNvPr id="13" name="Рисунок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4003040"/>
            <a:ext cx="1470660" cy="1825625"/>
          </a:xfrm>
          <a:prstGeom prst="rect">
            <a:avLst/>
          </a:prstGeom>
          <a:noFill/>
        </p:spPr>
      </p:pic>
      <p:sp>
        <p:nvSpPr>
          <p:cNvPr id="14" name="Текстовое поле 5"/>
          <p:cNvSpPr txBox="1">
            <a:spLocks/>
          </p:cNvSpPr>
          <p:nvPr/>
        </p:nvSpPr>
        <p:spPr>
          <a:xfrm>
            <a:off x="344170" y="5914390"/>
            <a:ext cx="1453515" cy="40068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hangingPunct="1"/>
            <a:r>
              <a:rPr sz="1000" b="0" i="0">
                <a:solidFill>
                  <a:srgbClr val="000000"/>
                </a:solidFill>
                <a:latin typeface="Georgia" charset="0"/>
                <a:ea typeface="Linux Libertine" charset="0"/>
              </a:rPr>
              <a:t>Хопкинс, Фредерик Гоуленд</a:t>
            </a:r>
            <a:endParaRPr lang="ko-KR" altLang="en-US" sz="1000">
              <a:latin typeface="Segoe UI" charset="0"/>
              <a:ea typeface="Segoe UI" charset="0"/>
            </a:endParaRPr>
          </a:p>
        </p:txBody>
      </p:sp>
      <p:pic>
        <p:nvPicPr>
          <p:cNvPr id="15" name="Рисунок 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840" y="4020185"/>
            <a:ext cx="1280795" cy="1808480"/>
          </a:xfrm>
          <a:prstGeom prst="rect">
            <a:avLst/>
          </a:prstGeom>
          <a:noFill/>
        </p:spPr>
      </p:pic>
      <p:sp>
        <p:nvSpPr>
          <p:cNvPr id="16" name="Текстовое поле 7"/>
          <p:cNvSpPr txBox="1">
            <a:spLocks/>
          </p:cNvSpPr>
          <p:nvPr/>
        </p:nvSpPr>
        <p:spPr>
          <a:xfrm>
            <a:off x="2047875" y="5922645"/>
            <a:ext cx="1263015" cy="24701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hangingPunct="1"/>
            <a:r>
              <a:rPr sz="1000" b="0" i="0">
                <a:solidFill>
                  <a:srgbClr val="000000"/>
                </a:solidFill>
                <a:latin typeface="Georgia" charset="0"/>
                <a:ea typeface="Linux Libertine" charset="0"/>
              </a:rPr>
              <a:t>Хилл, Арчибалд</a:t>
            </a:r>
            <a:endParaRPr lang="ko-KR" altLang="en-US" sz="1000">
              <a:latin typeface="Segoe UI" charset="0"/>
              <a:ea typeface="Segoe UI" charset="0"/>
            </a:endParaRPr>
          </a:p>
        </p:txBody>
      </p:sp>
      <p:sp>
        <p:nvSpPr>
          <p:cNvPr id="17" name="Текстовое поле 8"/>
          <p:cNvSpPr txBox="1">
            <a:spLocks/>
          </p:cNvSpPr>
          <p:nvPr/>
        </p:nvSpPr>
        <p:spPr>
          <a:xfrm>
            <a:off x="3635375" y="5191125"/>
            <a:ext cx="8008620" cy="147764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Английский студент-физик А.Хилл хотел быть чемпионом в стайрском беге на 600м. Столкнулся с проблемой после 300м нет сил бежать, сводит ноги, пршел к тому, что причина - образование молочной кислоты. Он узнает, что в германии той же проблемой занят О.Мейергоф, Стали изучать как сокращается мышца.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8775" cy="13290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 fontScale="90000"/>
          </a:bodyPr>
          <a:lstStyle/>
          <a:p>
            <a:pPr marL="0" indent="0" rtl="0" latinLnBrk="0">
              <a:buFontTx/>
              <a:buNone/>
            </a:pPr>
            <a:r>
              <a:rPr lang="ru-RU" sz="4400">
                <a:latin typeface="Kelson Sans RU" charset="0"/>
                <a:ea typeface="Kelson Sans RU" charset="0"/>
              </a:rPr>
              <a:t>1922 г - Нобелевкая премия, опыты Мейергофа природа мышечного сокращения</a:t>
            </a:r>
            <a:endParaRPr lang="ko-KR" altLang="en-US" sz="4400">
              <a:latin typeface="Kelson Sans RU" charset="0"/>
              <a:ea typeface="Kelson Sans RU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>
            <a:off x="3348990" y="1770380"/>
            <a:ext cx="800862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Схема универсальной физиологической установки: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</p:txBody>
      </p:sp>
      <p:sp>
        <p:nvSpPr>
          <p:cNvPr id="17" name="Rect 0"/>
          <p:cNvSpPr txBox="1">
            <a:spLocks/>
          </p:cNvSpPr>
          <p:nvPr/>
        </p:nvSpPr>
        <p:spPr>
          <a:xfrm>
            <a:off x="2887980" y="4251325"/>
            <a:ext cx="9206230" cy="258508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Если мышцу помещать в раствор, то можно изучать химию и биохимию в зависимости от того как сокращается мышца. По мере сокращения мышц образуется в растворе альфа-оксипропионовая кислота (молочная кислота)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Мейергоф и его коллеги детально изучают процесс и приходят к выводу, что мышцы не просто при сокращении производят молочную кислоту, а мышца сокращается потому, что образуется молочная кислота.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Но через десятилетия выяснилось что это не совсем так....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А.Хилл как термодинамик меряет температуру и создает чувствительные приборы и исследует ΔT процесса.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</p:txBody>
      </p:sp>
      <p:pic>
        <p:nvPicPr>
          <p:cNvPr id="18" name="Рисунок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995" y="2193290"/>
            <a:ext cx="5191760" cy="1829435"/>
          </a:xfrm>
          <a:prstGeom prst="rect">
            <a:avLst/>
          </a:prstGeom>
          <a:noFill/>
        </p:spPr>
      </p:pic>
      <p:pic>
        <p:nvPicPr>
          <p:cNvPr id="19" name="Рисунок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45" y="1694180"/>
            <a:ext cx="2732405" cy="2135505"/>
          </a:xfrm>
          <a:prstGeom prst="rect">
            <a:avLst/>
          </a:prstGeom>
          <a:noFill/>
        </p:spPr>
      </p:pic>
      <p:sp>
        <p:nvSpPr>
          <p:cNvPr id="20" name="Текстовое поле 14"/>
          <p:cNvSpPr txBox="1">
            <a:spLocks/>
          </p:cNvSpPr>
          <p:nvPr/>
        </p:nvSpPr>
        <p:spPr>
          <a:xfrm>
            <a:off x="460375" y="3838575"/>
            <a:ext cx="2390140" cy="24701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hangingPunct="1"/>
            <a:r>
              <a:rPr sz="1000">
                <a:latin typeface="Segoe UI" charset="0"/>
                <a:ea typeface="Segoe UI" charset="0"/>
              </a:rPr>
              <a:t>Тенз</a:t>
            </a:r>
            <a:r>
              <a:rPr lang="ru-RU" sz="1000">
                <a:latin typeface="Segoe UI" charset="0"/>
                <a:ea typeface="Segoe UI" charset="0"/>
              </a:rPr>
              <a:t>одатчик</a:t>
            </a:r>
            <a:endParaRPr lang="ko-KR" altLang="en-US" sz="1000">
              <a:latin typeface="Segoe UI" charset="0"/>
              <a:ea typeface="Segoe UI" charset="0"/>
            </a:endParaRPr>
          </a:p>
        </p:txBody>
      </p:sp>
      <p:sp>
        <p:nvSpPr>
          <p:cNvPr id="21" name="Фигура 15"/>
          <p:cNvSpPr>
            <a:spLocks/>
          </p:cNvSpPr>
          <p:nvPr/>
        </p:nvSpPr>
        <p:spPr>
          <a:xfrm>
            <a:off x="6492240" y="3192780"/>
            <a:ext cx="470535" cy="480695"/>
          </a:xfrm>
          <a:prstGeom prst="rect">
            <a:avLst/>
          </a:prstGeom>
          <a:solidFill>
            <a:schemeClr val="accent1">
              <a:alpha val="40035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Segoe UI" charset="0"/>
              <a:ea typeface="Segoe UI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9410" cy="132969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rtl="0" latinLnBrk="0">
              <a:buFontTx/>
              <a:buNone/>
            </a:pPr>
            <a:r>
              <a:rPr lang="ru-RU" sz="4400">
                <a:latin typeface="Kelson Sans RU" charset="0"/>
                <a:ea typeface="Kelson Sans RU" charset="0"/>
              </a:rPr>
              <a:t>1-я мировая война</a:t>
            </a:r>
            <a:endParaRPr lang="ko-KR" altLang="en-US" sz="4400">
              <a:latin typeface="Kelson Sans RU" charset="0"/>
              <a:ea typeface="Kelson Sans RU" charset="0"/>
            </a:endParaRPr>
          </a:p>
        </p:txBody>
      </p:sp>
      <p:sp>
        <p:nvSpPr>
          <p:cNvPr id="17" name="Rect 0"/>
          <p:cNvSpPr txBox="1">
            <a:spLocks/>
          </p:cNvSpPr>
          <p:nvPr/>
        </p:nvSpPr>
        <p:spPr>
          <a:xfrm>
            <a:off x="3147695" y="1691005"/>
            <a:ext cx="8952865" cy="369252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Отравляющие вещества - сначала были газовые, но потом появились кожно-нарывные. Мелкая суспензия, мелкий туман, вдохнул, легкие погибли и в страшных мучениях человек умирает. В химии получает развитие тема ОВ.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Противога́з Зели́нского — Кумманта — первый в мире противогаз, обладающий способностью поглощать широкую гамму боевых отравляющих веществ (БОВ), разработанный в 1915 году российским учёным-химиком Николаем Дмитриевичем Зелинским и технологом завода «Треугольник» Э. Куммантом. Основа - активированный уголь.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Шилов - ученик Зелинского модифицирует противогаз. Учил на передовой солдат пользоваться противогазами. Главная идея Шилова - сопряжение, она вокруг, но он еще об этом не знает.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</p:txBody>
      </p:sp>
      <p:pic>
        <p:nvPicPr>
          <p:cNvPr id="18" name="Рисунок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35" y="3852545"/>
            <a:ext cx="1574165" cy="2396490"/>
          </a:xfrm>
          <a:prstGeom prst="rect">
            <a:avLst/>
          </a:prstGeom>
          <a:noFill/>
        </p:spPr>
      </p:pic>
      <p:pic>
        <p:nvPicPr>
          <p:cNvPr id="19" name="Рисунок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1527175"/>
            <a:ext cx="1266825" cy="1595755"/>
          </a:xfrm>
          <a:prstGeom prst="rect">
            <a:avLst/>
          </a:prstGeom>
          <a:noFill/>
        </p:spPr>
      </p:pic>
      <p:sp>
        <p:nvSpPr>
          <p:cNvPr id="20" name="Текстовое поле 3"/>
          <p:cNvSpPr txBox="1">
            <a:spLocks/>
          </p:cNvSpPr>
          <p:nvPr/>
        </p:nvSpPr>
        <p:spPr>
          <a:xfrm>
            <a:off x="107315" y="3117850"/>
            <a:ext cx="1275080" cy="55435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hangingPunct="1"/>
            <a:r>
              <a:rPr sz="1000" b="0" i="0">
                <a:solidFill>
                  <a:srgbClr val="000000"/>
                </a:solidFill>
                <a:latin typeface="Georgia" charset="0"/>
                <a:ea typeface="Linux Libertine" charset="0"/>
              </a:rPr>
              <a:t>Зелинский, Николай Дмитриевич</a:t>
            </a:r>
            <a:endParaRPr lang="ko-KR" altLang="en-US" sz="1000">
              <a:latin typeface="Segoe UI" charset="0"/>
              <a:ea typeface="Segoe UI" charset="0"/>
            </a:endParaRPr>
          </a:p>
        </p:txBody>
      </p:sp>
      <p:pic>
        <p:nvPicPr>
          <p:cNvPr id="21" name="Рисунок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995" y="1508125"/>
            <a:ext cx="1056640" cy="1620520"/>
          </a:xfrm>
          <a:prstGeom prst="rect">
            <a:avLst/>
          </a:prstGeom>
          <a:noFill/>
        </p:spPr>
      </p:pic>
      <p:sp>
        <p:nvSpPr>
          <p:cNvPr id="22" name="Текстовое поле 5"/>
          <p:cNvSpPr txBox="1">
            <a:spLocks/>
          </p:cNvSpPr>
          <p:nvPr/>
        </p:nvSpPr>
        <p:spPr>
          <a:xfrm>
            <a:off x="1619250" y="3119755"/>
            <a:ext cx="1183005" cy="55435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hangingPunct="1"/>
            <a:r>
              <a:rPr sz="1000" b="0" i="0">
                <a:solidFill>
                  <a:srgbClr val="000000"/>
                </a:solidFill>
                <a:latin typeface="Georgia" charset="0"/>
                <a:ea typeface="Linux Libertine" charset="0"/>
              </a:rPr>
              <a:t>Шилов, Николай Александрович</a:t>
            </a:r>
            <a:endParaRPr lang="ko-KR" altLang="en-US" sz="1000">
              <a:latin typeface="Segoe UI" charset="0"/>
              <a:ea typeface="Segoe UI" charset="0"/>
            </a:endParaRPr>
          </a:p>
        </p:txBody>
      </p:sp>
      <p:sp>
        <p:nvSpPr>
          <p:cNvPr id="23" name="Текстовое поле 6"/>
          <p:cNvSpPr txBox="1">
            <a:spLocks/>
          </p:cNvSpPr>
          <p:nvPr/>
        </p:nvSpPr>
        <p:spPr>
          <a:xfrm>
            <a:off x="714375" y="6278880"/>
            <a:ext cx="1540510" cy="24701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sz="1000">
                <a:latin typeface="Kelson Sans RU" charset="0"/>
                <a:ea typeface="Kelson Sans RU" charset="0"/>
              </a:rPr>
              <a:t>Солдат в противогазе</a:t>
            </a:r>
            <a:endParaRPr lang="ko-KR" altLang="en-US" sz="1000">
              <a:latin typeface="Kelson Sans RU" charset="0"/>
              <a:ea typeface="Kelson Sans RU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9410" cy="132969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rtl="0" latinLnBrk="0">
              <a:buFontTx/>
              <a:buNone/>
            </a:pPr>
            <a:r>
              <a:rPr lang="ru-RU" sz="4400">
                <a:latin typeface="Kelson Sans RU" charset="0"/>
                <a:ea typeface="Kelson Sans RU" charset="0"/>
              </a:rPr>
              <a:t>Участие фосфатов в преобразовании энергии</a:t>
            </a:r>
            <a:endParaRPr lang="ko-KR" altLang="en-US" sz="4400">
              <a:latin typeface="Kelson Sans RU" charset="0"/>
              <a:ea typeface="Kelson Sans RU" charset="0"/>
            </a:endParaRPr>
          </a:p>
        </p:txBody>
      </p:sp>
      <p:sp>
        <p:nvSpPr>
          <p:cNvPr id="17" name="Rect 0"/>
          <p:cNvSpPr txBox="1">
            <a:spLocks/>
          </p:cNvSpPr>
          <p:nvPr/>
        </p:nvSpPr>
        <p:spPr>
          <a:xfrm>
            <a:off x="683895" y="1639570"/>
            <a:ext cx="11408410" cy="507682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Диализ сока Бухнера (детально позже), бесклеточный экстракт в котором идет брожение - превращение в спирт или молочную кислоту добавленную глюкозу, а узнаем о процессе по пузырям.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фосфаты(соли H</a:t>
            </a:r>
            <a:r>
              <a:rPr lang="ru-RU" baseline="-25000">
                <a:solidFill>
                  <a:srgbClr val="666666"/>
                </a:solidFill>
                <a:latin typeface="Kelson Sans RU" charset="0"/>
                <a:ea typeface="Kelson Sans RU" charset="0"/>
              </a:rPr>
              <a:t>3</a:t>
            </a: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PO</a:t>
            </a:r>
            <a:r>
              <a:rPr lang="ru-RU" baseline="-25000">
                <a:solidFill>
                  <a:srgbClr val="666666"/>
                </a:solidFill>
                <a:latin typeface="Kelson Sans RU" charset="0"/>
                <a:ea typeface="Kelson Sans RU" charset="0"/>
              </a:rPr>
              <a:t>4</a:t>
            </a: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) + глюкоза -&gt; молочная кислота или спирт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Фосфат входил и вышел, обеспечил сопряженный процесс - самое большое достижение к середине 20 века - сопряженное участие фосфатов в преобразовании энергии. Но ученые пока об этом не знали: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C</a:t>
            </a:r>
            <a:r>
              <a:rPr lang="ru-RU" baseline="-25000">
                <a:solidFill>
                  <a:srgbClr val="666666"/>
                </a:solidFill>
                <a:latin typeface="Kelson Sans RU" charset="0"/>
                <a:ea typeface="Kelson Sans RU" charset="0"/>
              </a:rPr>
              <a:t>6</a:t>
            </a: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H</a:t>
            </a:r>
            <a:r>
              <a:rPr lang="ru-RU" baseline="-25000">
                <a:solidFill>
                  <a:srgbClr val="666666"/>
                </a:solidFill>
                <a:latin typeface="Kelson Sans RU" charset="0"/>
                <a:ea typeface="Kelson Sans RU" charset="0"/>
              </a:rPr>
              <a:t>12</a:t>
            </a: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O</a:t>
            </a:r>
            <a:r>
              <a:rPr lang="ru-RU" baseline="-25000">
                <a:solidFill>
                  <a:srgbClr val="666666"/>
                </a:solidFill>
                <a:latin typeface="Kelson Sans RU" charset="0"/>
                <a:ea typeface="Kelson Sans RU" charset="0"/>
              </a:rPr>
              <a:t>6</a:t>
            </a: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 -&gt; C</a:t>
            </a:r>
            <a:r>
              <a:rPr lang="ru-RU" baseline="-25000">
                <a:solidFill>
                  <a:srgbClr val="666666"/>
                </a:solidFill>
                <a:latin typeface="Kelson Sans RU" charset="0"/>
                <a:ea typeface="Kelson Sans RU" charset="0"/>
              </a:rPr>
              <a:t>3</a:t>
            </a: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H</a:t>
            </a:r>
            <a:r>
              <a:rPr lang="ru-RU" baseline="-25000">
                <a:solidFill>
                  <a:srgbClr val="666666"/>
                </a:solidFill>
                <a:latin typeface="Kelson Sans RU" charset="0"/>
                <a:ea typeface="Kelson Sans RU" charset="0"/>
              </a:rPr>
              <a:t>6</a:t>
            </a: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O</a:t>
            </a:r>
            <a:r>
              <a:rPr lang="ru-RU" baseline="-25000">
                <a:solidFill>
                  <a:srgbClr val="666666"/>
                </a:solidFill>
                <a:latin typeface="Kelson Sans RU" charset="0"/>
                <a:ea typeface="Kelson Sans RU" charset="0"/>
              </a:rPr>
              <a:t>3</a:t>
            </a: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 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>
                <a:solidFill>
                  <a:srgbClr val="666666"/>
                </a:solidFill>
                <a:latin typeface="Kelson Sans RU" charset="0"/>
                <a:ea typeface="Kelson Sans RU" charset="0"/>
              </a:rPr>
              <a:t>глюкоза молочная кислота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>
                <a:solidFill>
                  <a:srgbClr val="666666"/>
                </a:solidFill>
                <a:latin typeface="Kelson Sans RU" charset="0"/>
                <a:ea typeface="Kelson Sans RU" charset="0"/>
              </a:rPr>
              <a:t>фосфат -&gt; АТФ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>
                <a:solidFill>
                  <a:srgbClr val="666666"/>
                </a:solidFill>
                <a:latin typeface="Kelson Sans RU" charset="0"/>
                <a:ea typeface="Kelson Sans RU" charset="0"/>
              </a:rPr>
              <a:t>Среди ОВ самые отвратительные - кожно-нарывные, убивают ткани, прожигают. Среди них есть целый класс алкилирующих веществ, например: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>
                <a:solidFill>
                  <a:srgbClr val="666666"/>
                </a:solidFill>
                <a:latin typeface="Kelson Sans RU" charset="0"/>
                <a:ea typeface="Kelson Sans RU" charset="0"/>
              </a:rPr>
              <a:t>I/Cl/Br+уксусная кислота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>
                <a:solidFill>
                  <a:srgbClr val="666666"/>
                </a:solidFill>
                <a:latin typeface="Kelson Sans RU" charset="0"/>
                <a:ea typeface="Kelson Sans RU" charset="0"/>
              </a:rPr>
              <a:t>В белках есть сульфгидрильные группы SH-группы, без которых катализ и жизнь невозможны под воздействие ОВ мгновенно алкилируются 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>
                <a:solidFill>
                  <a:srgbClr val="666666"/>
                </a:solidFill>
                <a:latin typeface="Kelson Sans RU" charset="0"/>
                <a:ea typeface="Kelson Sans RU" charset="0"/>
              </a:rPr>
              <a:t>-S-H+ I-CH</a:t>
            </a:r>
            <a:r>
              <a:rPr lang="ru-RU" altLang="en-US" baseline="-25000">
                <a:solidFill>
                  <a:srgbClr val="666666"/>
                </a:solidFill>
                <a:latin typeface="Kelson Sans RU" charset="0"/>
                <a:ea typeface="Kelson Sans RU" charset="0"/>
              </a:rPr>
              <a:t>2</a:t>
            </a:r>
            <a:r>
              <a:rPr lang="ru-RU" altLang="en-US">
                <a:solidFill>
                  <a:srgbClr val="666666"/>
                </a:solidFill>
                <a:latin typeface="Kelson Sans RU" charset="0"/>
                <a:ea typeface="Kelson Sans RU" charset="0"/>
              </a:rPr>
              <a:t>COOH -&gt; -S-CH</a:t>
            </a:r>
            <a:r>
              <a:rPr lang="ru-RU" altLang="en-US" baseline="-25000">
                <a:solidFill>
                  <a:srgbClr val="666666"/>
                </a:solidFill>
                <a:latin typeface="Kelson Sans RU" charset="0"/>
                <a:ea typeface="Kelson Sans RU" charset="0"/>
              </a:rPr>
              <a:t>2</a:t>
            </a:r>
            <a:r>
              <a:rPr lang="ru-RU" altLang="en-US">
                <a:solidFill>
                  <a:srgbClr val="666666"/>
                </a:solidFill>
                <a:latin typeface="Kelson Sans RU" charset="0"/>
                <a:ea typeface="Kelson Sans RU" charset="0"/>
              </a:rPr>
              <a:t>COOH + HI  - реакция алкилирования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>
                <a:solidFill>
                  <a:srgbClr val="666666"/>
                </a:solidFill>
                <a:latin typeface="Kelson Sans RU" charset="0"/>
                <a:ea typeface="Kelson Sans RU" charset="0"/>
              </a:rPr>
              <a:t>                                    ацитильный остаток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>
                <a:solidFill>
                  <a:srgbClr val="666666"/>
                </a:solidFill>
                <a:latin typeface="Kelson Sans RU" charset="0"/>
                <a:ea typeface="Kelson Sans RU" charset="0"/>
              </a:rPr>
              <a:t>в результате белок не работает, остановить нельзя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>
                <a:solidFill>
                  <a:srgbClr val="666666"/>
                </a:solidFill>
                <a:latin typeface="Kelson Sans RU" charset="0"/>
                <a:ea typeface="Kelson Sans RU" charset="0"/>
              </a:rPr>
              <a:t>Было показано на бухнеровской установке, что брожение не идет при очень малых концентрациях монойодуксусной ксилоты (монойодацетат)</a:t>
            </a:r>
            <a:endParaRPr lang="ko-KR" altLang="en-US">
              <a:solidFill>
                <a:srgbClr val="666666"/>
              </a:solidFill>
              <a:latin typeface="Kelson Sans RU" charset="0"/>
              <a:ea typeface="Kelson Sans RU" charset="0"/>
            </a:endParaRPr>
          </a:p>
        </p:txBody>
      </p:sp>
      <p:sp>
        <p:nvSpPr>
          <p:cNvPr id="18" name="Фигура 1"/>
          <p:cNvSpPr>
            <a:spLocks/>
          </p:cNvSpPr>
          <p:nvPr/>
        </p:nvSpPr>
        <p:spPr>
          <a:xfrm>
            <a:off x="1080770" y="5318760"/>
            <a:ext cx="469265" cy="233680"/>
          </a:xfrm>
          <a:prstGeom prst="rect">
            <a:avLst/>
          </a:prstGeom>
          <a:noFill/>
          <a:ln w="31750" cap="flat" cmpd="sng">
            <a:solidFill>
              <a:schemeClr val="accent1">
                <a:lumMod val="60000"/>
                <a:lumOff val="40000"/>
                <a:alpha val="100000"/>
              </a:schemeClr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Segoe UI" charset="0"/>
              <a:ea typeface="Segoe UI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20680" cy="133096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rtl="0" latinLnBrk="0">
              <a:buFontTx/>
              <a:buNone/>
            </a:pPr>
            <a:r>
              <a:rPr lang="ru-RU" sz="4400">
                <a:latin typeface="Kelson Sans RU" charset="0"/>
                <a:ea typeface="Kelson Sans RU" charset="0"/>
              </a:rPr>
              <a:t>Определение фосфатов</a:t>
            </a:r>
            <a:endParaRPr lang="ko-KR" altLang="en-US" sz="4400">
              <a:latin typeface="Kelson Sans RU" charset="0"/>
              <a:ea typeface="Kelson Sans RU" charset="0"/>
            </a:endParaRPr>
          </a:p>
        </p:txBody>
      </p:sp>
      <p:sp>
        <p:nvSpPr>
          <p:cNvPr id="17" name="Rect 0"/>
          <p:cNvSpPr txBox="1">
            <a:spLocks/>
          </p:cNvSpPr>
          <p:nvPr/>
        </p:nvSpPr>
        <p:spPr>
          <a:xfrm>
            <a:off x="3148330" y="1397635"/>
            <a:ext cx="8962390" cy="526796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ru-RU" altLang="en-US" sz="1600">
                <a:solidFill>
                  <a:srgbClr val="666666"/>
                </a:solidFill>
                <a:latin typeface="Kelson Sans RU" charset="0"/>
                <a:ea typeface="Kelson Sans RU" charset="0"/>
              </a:rPr>
              <a:t>В лаборатории Мейергофа изучают детали действия ядов, приезжает Э. Лундсгаард и изучает не только появление молочной кислоты, но еще и фосфатов, для этого надо было точно определять фосфаты в свободном растворе (концентрацию солей ортофосфорной кислоты).</a:t>
            </a:r>
            <a:endParaRPr lang="ko-KR" altLang="en-US" sz="16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 sz="1600">
                <a:solidFill>
                  <a:srgbClr val="666666"/>
                </a:solidFill>
                <a:latin typeface="Kelson Sans RU" charset="0"/>
                <a:ea typeface="Kelson Sans RU" charset="0"/>
              </a:rPr>
              <a:t>В середине 19 века найдена рекация на фосфаты - соли молибденовой кислоты образует силикатами и фосфатами прочные комплексы, которые можно потом промыть,  высушить, взвесить и провести аналитическую работу.</a:t>
            </a:r>
            <a:endParaRPr lang="ko-KR" altLang="en-US" sz="16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 sz="1600">
                <a:solidFill>
                  <a:srgbClr val="666666"/>
                </a:solidFill>
                <a:latin typeface="Kelson Sans RU" charset="0"/>
                <a:ea typeface="Kelson Sans RU" charset="0"/>
              </a:rPr>
              <a:t>Работа аналитического химика 20 века - работа для особого склада психики, провести точно, аккуратно, по инструкции, получить осадок, высушить, довести до постоянного веса, делаются расчеты, расчеты оказываются неверными, опыт повторяется заново, а чтобы убрать все лишнее из смеси, прокаливается осадок в муфельной печи (500°-600°), остужают, взвешивают.</a:t>
            </a:r>
            <a:endParaRPr lang="ko-KR" altLang="en-US" sz="16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 sz="1600">
                <a:solidFill>
                  <a:srgbClr val="666666"/>
                </a:solidFill>
                <a:latin typeface="Kelson Sans RU" charset="0"/>
                <a:ea typeface="Kelson Sans RU" charset="0"/>
              </a:rPr>
              <a:t>Метод молибдатов по обнаружению фосфатов - грубый, точность порядка миллиграммов, а это очень большие концентрации, но в Америке точность метода усовершенствовали в 1000 раз Fiske-Subbarow метод - по цвету, оказалось фосфатмолибдатный комплекс при восстановлении гидрохиноном образует яркосиний продукт и по цвету можно определять в тысячу раз меньшие концентрации.</a:t>
            </a:r>
            <a:endParaRPr lang="ko-KR" altLang="en-US" sz="16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 sz="1600">
                <a:solidFill>
                  <a:srgbClr val="666666"/>
                </a:solidFill>
                <a:latin typeface="Kelson Sans RU" charset="0"/>
                <a:ea typeface="Kelson Sans RU" charset="0"/>
              </a:rPr>
              <a:t>Освоив Fiske-Subbarow метод, Э. Лундсгаард видит, что фосфат больше в растворе с мышцей не определяется. А Fiske-Subbarow обнаружили что фосфат превращается в пирофосфат, который не дает синюю окраску. </a:t>
            </a:r>
            <a:endParaRPr lang="ko-KR" altLang="en-US" sz="16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 sz="1600">
                <a:solidFill>
                  <a:srgbClr val="666666"/>
                </a:solidFill>
                <a:latin typeface="Kelson Sans RU" charset="0"/>
                <a:ea typeface="Kelson Sans RU" charset="0"/>
              </a:rPr>
              <a:t>В сосуд добавляют монойодацетат, молочная кислота исчезает, а </a:t>
            </a:r>
            <a:r>
              <a:rPr lang="ru-RU" altLang="en-US" sz="1600" b="1">
                <a:solidFill>
                  <a:srgbClr val="666666"/>
                </a:solidFill>
                <a:latin typeface="Kelson Sans RU" charset="0"/>
                <a:ea typeface="Kelson Sans RU" charset="0"/>
              </a:rPr>
              <a:t>мышца все равно сокращается,</a:t>
            </a:r>
            <a:r>
              <a:rPr lang="ru-RU" altLang="en-US" sz="1600" b="0">
                <a:solidFill>
                  <a:srgbClr val="666666"/>
                </a:solidFill>
                <a:latin typeface="Kelson Sans RU" charset="0"/>
                <a:ea typeface="Kelson Sans RU" charset="0"/>
              </a:rPr>
              <a:t> до тех пока в растворе не появляются снова фосфаты, получается они были нужны, пока были в скрытом виде. Вывод - молочная кислота не нужна для сокращения.</a:t>
            </a:r>
            <a:endParaRPr lang="ko-KR" altLang="en-US" sz="1600" b="0">
              <a:solidFill>
                <a:srgbClr val="666666"/>
              </a:solidFill>
              <a:latin typeface="Kelson Sans RU" charset="0"/>
              <a:ea typeface="Kelson Sans RU" charset="0"/>
            </a:endParaRPr>
          </a:p>
        </p:txBody>
      </p:sp>
      <p:pic>
        <p:nvPicPr>
          <p:cNvPr id="18" name="Рисунок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" y="1695450"/>
            <a:ext cx="2877185" cy="15220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21315" cy="133159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rtl="0" latinLnBrk="0">
              <a:buFontTx/>
              <a:buNone/>
            </a:pPr>
            <a:r>
              <a:rPr lang="ru-RU" sz="4400">
                <a:latin typeface="Kelson Sans RU" charset="0"/>
                <a:ea typeface="Kelson Sans RU" charset="0"/>
              </a:rPr>
              <a:t>Молочная кислота в мышечном сокращении</a:t>
            </a:r>
            <a:endParaRPr lang="ko-KR" altLang="en-US" sz="4400">
              <a:latin typeface="Kelson Sans RU" charset="0"/>
              <a:ea typeface="Kelson Sans RU" charset="0"/>
            </a:endParaRPr>
          </a:p>
        </p:txBody>
      </p:sp>
      <p:sp>
        <p:nvSpPr>
          <p:cNvPr id="17" name="Rect 0"/>
          <p:cNvSpPr txBox="1">
            <a:spLocks/>
          </p:cNvSpPr>
          <p:nvPr/>
        </p:nvSpPr>
        <p:spPr>
          <a:xfrm>
            <a:off x="6573520" y="2470150"/>
            <a:ext cx="5485130" cy="369252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ru-RU" altLang="en-US" sz="1800">
                <a:solidFill>
                  <a:srgbClr val="666666"/>
                </a:solidFill>
                <a:latin typeface="Kelson Sans RU" charset="0"/>
                <a:ea typeface="Kelson Sans RU" charset="0"/>
              </a:rPr>
              <a:t>Э. Лундсгаард пишет статью в опровержении работы своего учителя.</a:t>
            </a:r>
            <a:endParaRPr lang="ko-KR" altLang="en-US" sz="18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 sz="1800">
                <a:solidFill>
                  <a:srgbClr val="666666"/>
                </a:solidFill>
                <a:latin typeface="Kelson Sans RU" charset="0"/>
                <a:ea typeface="Kelson Sans RU" charset="0"/>
              </a:rPr>
              <a:t>Мышца сокращается пока образуется аденазинтрифосфорная кислота - АТФ и она перестает сокращаться по мере расщепления АТФ</a:t>
            </a:r>
            <a:endParaRPr lang="ko-KR" altLang="en-US" sz="18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endParaRPr lang="ko-KR" altLang="en-US" sz="18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 sz="1800">
                <a:solidFill>
                  <a:srgbClr val="666666"/>
                </a:solidFill>
                <a:latin typeface="Kelson Sans RU" charset="0"/>
                <a:ea typeface="Kelson Sans RU" charset="0"/>
              </a:rPr>
              <a:t>Клюкоза расщепляется до молочной кислоты не с тем чтобы образовывать молочную кислоту, а для того чтобы по дороге сделать АТФ.</a:t>
            </a:r>
            <a:endParaRPr lang="ko-KR" altLang="en-US" sz="18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endParaRPr lang="ko-KR" altLang="en-US" sz="18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 sz="1800">
                <a:solidFill>
                  <a:srgbClr val="666666"/>
                </a:solidFill>
                <a:latin typeface="Kelson Sans RU" charset="0"/>
                <a:ea typeface="Kelson Sans RU" charset="0"/>
              </a:rPr>
              <a:t>Распад шестиуглеродного сахара глюкозы на две молекулы трёхуглеродного пирувата осуществляется в 10 стадий</a:t>
            </a:r>
            <a:endParaRPr lang="ko-KR" altLang="en-US" sz="18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</p:txBody>
      </p:sp>
      <p:pic>
        <p:nvPicPr>
          <p:cNvPr id="18" name="Рисунок 3" descr="C:/Users/1/AppData/Roaming/PolarisOffice/ETemp/5340_10173400/fImage85351132846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160" y="1608455"/>
            <a:ext cx="5078095" cy="5121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21315" cy="133159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rtl="0" latinLnBrk="0">
              <a:buFontTx/>
              <a:buNone/>
            </a:pPr>
            <a:r>
              <a:rPr lang="ru-RU" sz="4400">
                <a:latin typeface="Kelson Sans RU" charset="0"/>
                <a:ea typeface="Kelson Sans RU" charset="0"/>
              </a:rPr>
              <a:t>1930г. Схема гликолиза</a:t>
            </a:r>
            <a:endParaRPr lang="ko-KR" altLang="en-US" sz="4400">
              <a:latin typeface="Kelson Sans RU" charset="0"/>
              <a:ea typeface="Kelson Sans RU" charset="0"/>
            </a:endParaRPr>
          </a:p>
        </p:txBody>
      </p:sp>
      <p:sp>
        <p:nvSpPr>
          <p:cNvPr id="17" name="Rect 0"/>
          <p:cNvSpPr txBox="1">
            <a:spLocks/>
          </p:cNvSpPr>
          <p:nvPr/>
        </p:nvSpPr>
        <p:spPr>
          <a:xfrm>
            <a:off x="6573520" y="2470150"/>
            <a:ext cx="5485765" cy="369316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numCol="1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ru-RU" altLang="en-US" sz="1800">
                <a:solidFill>
                  <a:srgbClr val="666666"/>
                </a:solidFill>
                <a:latin typeface="Kelson Sans RU" charset="0"/>
                <a:ea typeface="Kelson Sans RU" charset="0"/>
              </a:rPr>
              <a:t>Э. Лундсгаард пишет статью в опровержении работы своего учителя.</a:t>
            </a:r>
            <a:endParaRPr lang="ko-KR" altLang="en-US" sz="18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 sz="1800">
                <a:solidFill>
                  <a:srgbClr val="666666"/>
                </a:solidFill>
                <a:latin typeface="Kelson Sans RU" charset="0"/>
                <a:ea typeface="Kelson Sans RU" charset="0"/>
              </a:rPr>
              <a:t>Мышца сокращается пока образуется аденазинтрифосфорная кислота - АТФ и она перестает сокращаться по мере расщепления АТФ</a:t>
            </a:r>
            <a:endParaRPr lang="ko-KR" altLang="en-US" sz="18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endParaRPr lang="ko-KR" altLang="en-US" sz="18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 sz="1800">
                <a:solidFill>
                  <a:srgbClr val="666666"/>
                </a:solidFill>
                <a:latin typeface="Kelson Sans RU" charset="0"/>
                <a:ea typeface="Kelson Sans RU" charset="0"/>
              </a:rPr>
              <a:t>Клюкоза расщепляется до молочной кислоты не с тем чтобы образовывать молочную кислоту, а для того чтобы по дороге сделать АТФ.</a:t>
            </a:r>
            <a:endParaRPr lang="ko-KR" altLang="en-US" sz="18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endParaRPr lang="ko-KR" altLang="en-US" sz="18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  <a:p>
            <a:pPr marL="0" indent="0" algn="l" latinLnBrk="0" hangingPunct="1">
              <a:buFontTx/>
              <a:buNone/>
            </a:pPr>
            <a:r>
              <a:rPr lang="ru-RU" altLang="en-US" sz="1800">
                <a:solidFill>
                  <a:srgbClr val="666666"/>
                </a:solidFill>
                <a:latin typeface="Kelson Sans RU" charset="0"/>
                <a:ea typeface="Kelson Sans RU" charset="0"/>
              </a:rPr>
              <a:t>Распад шестиуглеродного сахара глюкозы на две молекулы трёхуглеродного пирувата осуществляется в 10 стадий</a:t>
            </a:r>
            <a:endParaRPr lang="ko-KR" altLang="en-US" sz="1800">
              <a:solidFill>
                <a:srgbClr val="666666"/>
              </a:solidFill>
              <a:latin typeface="Kelson Sans RU" charset="0"/>
              <a:ea typeface="Kelson Sans RU" charset="0"/>
            </a:endParaRPr>
          </a:p>
        </p:txBody>
      </p:sp>
      <p:pic>
        <p:nvPicPr>
          <p:cNvPr id="18" name="Picture " descr="C:/Users/1/AppData/Roaming/PolarisOffice/ETemp/5340_10173400/fImage85351132846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445" y="1478915"/>
            <a:ext cx="5078095" cy="5121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8140" cy="132842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rtl="0" latinLnBrk="0">
              <a:buFontTx/>
              <a:buNone/>
            </a:pPr>
            <a:r>
              <a:rPr lang="ru-RU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Структуры полисахаридов: амилоза, гликоген, целлюлоза и хитин</a:t>
            </a:r>
            <a:endParaRPr lang="ko-KR" altLang="en-US" sz="4400" dirty="0">
              <a:latin typeface="Kelson Sans RU" charset="0"/>
              <a:ea typeface="Kelson Sans RU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3AB69-14FA-4C57-AD69-594509C4A0C4}"/>
              </a:ext>
            </a:extLst>
          </p:cNvPr>
          <p:cNvSpPr txBox="1"/>
          <p:nvPr/>
        </p:nvSpPr>
        <p:spPr>
          <a:xfrm>
            <a:off x="2711963" y="1464345"/>
            <a:ext cx="91086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Почему начинается все с глюкозы? Почему гликолиз одинаков, в плоть до того, что когда приносят метеорит с формами жизни, то мы не сомневаемся что искать.</a:t>
            </a:r>
          </a:p>
          <a:p>
            <a:r>
              <a:rPr lang="ru-RU" dirty="0"/>
              <a:t>Этот вопрос почему выбрана глюкоза, каков смысл эволюции? Чтобы ответить на этот вопрос надо знать преимущества в естественном отборе, чем эти молекулы хороши физикой, историей, взаимодействием и тогда во всей полноте получается чрезвычайно яркая задача - поиск физического смысла. А физика - это "</a:t>
            </a:r>
            <a:r>
              <a:rPr lang="ru-RU" dirty="0" err="1"/>
              <a:t>фюсис</a:t>
            </a:r>
            <a:r>
              <a:rPr lang="ru-RU" dirty="0"/>
              <a:t>". </a:t>
            </a:r>
            <a:r>
              <a:rPr lang="ru-RU" dirty="0" err="1"/>
              <a:t>Фюсис</a:t>
            </a:r>
            <a:r>
              <a:rPr lang="ru-RU" dirty="0"/>
              <a:t>, </a:t>
            </a:r>
            <a:r>
              <a:rPr lang="ru-RU" dirty="0" err="1"/>
              <a:t>физис</a:t>
            </a:r>
            <a:r>
              <a:rPr lang="ru-RU" dirty="0"/>
              <a:t>, </a:t>
            </a:r>
            <a:r>
              <a:rPr lang="ru-RU" dirty="0" err="1"/>
              <a:t>фюзис</a:t>
            </a:r>
            <a:r>
              <a:rPr lang="ru-RU" dirty="0"/>
              <a:t> (др. -греч. </a:t>
            </a:r>
            <a:r>
              <a:rPr lang="ru-RU" dirty="0" err="1"/>
              <a:t>φύσις</a:t>
            </a:r>
            <a:r>
              <a:rPr lang="ru-RU" dirty="0"/>
              <a:t>) — греческий теологический, философский, и научный термин, обычно переводимый на русский язык как «природа». Физический/природный смысл в том, что был естественный отбор в пользу этой молекулы. И тут мы ломаем головы и думаем, что  знаем, но оказывается, что это не так. </a:t>
            </a:r>
          </a:p>
          <a:p>
            <a:r>
              <a:rPr lang="ru-RU" dirty="0"/>
              <a:t>Все кто выдержал естественный отбор питаются полимерами, сделанными из глюкозы в связи 1-4. Молекулы связанные такой связью могут быть длинными, так как ничто не мешает им удлиняться (кроме физики больших молекул при флуктуации тепловых концентраций).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5DA263-B706-4294-8041-B1AB991A2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04" y="1845578"/>
            <a:ext cx="1551089" cy="167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3FEC7E-A397-4310-BC8D-042B5B790B5B}"/>
              </a:ext>
            </a:extLst>
          </p:cNvPr>
          <p:cNvSpPr txBox="1"/>
          <p:nvPr/>
        </p:nvSpPr>
        <p:spPr>
          <a:xfrm>
            <a:off x="453005" y="3523803"/>
            <a:ext cx="1686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α-</a:t>
            </a:r>
            <a:r>
              <a:rPr lang="en-US" sz="1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D-</a:t>
            </a:r>
            <a:r>
              <a:rPr lang="ru-RU" sz="10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Глюкопираноза</a:t>
            </a:r>
            <a:endParaRPr lang="ru-RU" sz="1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4798FF2-EC98-4776-AF14-CF5A7D18A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03" y="3926048"/>
            <a:ext cx="1551089" cy="167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190329-43E6-4EBE-87E6-4B93EB8D3743}"/>
              </a:ext>
            </a:extLst>
          </p:cNvPr>
          <p:cNvSpPr txBox="1"/>
          <p:nvPr/>
        </p:nvSpPr>
        <p:spPr>
          <a:xfrm>
            <a:off x="588103" y="5604044"/>
            <a:ext cx="1349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β-</a:t>
            </a:r>
            <a:r>
              <a:rPr lang="en-US" sz="1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D-</a:t>
            </a:r>
            <a:r>
              <a:rPr lang="ru-RU" sz="10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Глюкопираноза</a:t>
            </a:r>
            <a:endParaRPr lang="ru-RU" sz="1000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955EE067-A9CC-4737-ACE2-204BD54F5414}"/>
              </a:ext>
            </a:extLst>
          </p:cNvPr>
          <p:cNvSpPr/>
          <p:nvPr/>
        </p:nvSpPr>
        <p:spPr>
          <a:xfrm>
            <a:off x="1627552" y="2576676"/>
            <a:ext cx="520993" cy="71055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3F01B89D-95E6-43BC-88DB-2CEA4CAFBE1E}"/>
              </a:ext>
            </a:extLst>
          </p:cNvPr>
          <p:cNvSpPr/>
          <p:nvPr/>
        </p:nvSpPr>
        <p:spPr>
          <a:xfrm>
            <a:off x="1677360" y="4133000"/>
            <a:ext cx="520993" cy="71055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7EF3E3-A493-4EE4-949E-867959C36829}"/>
              </a:ext>
            </a:extLst>
          </p:cNvPr>
          <p:cNvSpPr txBox="1"/>
          <p:nvPr/>
        </p:nvSpPr>
        <p:spPr>
          <a:xfrm>
            <a:off x="1778510" y="4842112"/>
            <a:ext cx="219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47112E-85F0-4E8D-B0DB-2E23C8C5A78F}"/>
              </a:ext>
            </a:extLst>
          </p:cNvPr>
          <p:cNvSpPr txBox="1"/>
          <p:nvPr/>
        </p:nvSpPr>
        <p:spPr>
          <a:xfrm>
            <a:off x="1296099" y="5117622"/>
            <a:ext cx="219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134510-FA76-4B1F-B27E-F200D50507F2}"/>
              </a:ext>
            </a:extLst>
          </p:cNvPr>
          <p:cNvSpPr txBox="1"/>
          <p:nvPr/>
        </p:nvSpPr>
        <p:spPr>
          <a:xfrm>
            <a:off x="930785" y="5114612"/>
            <a:ext cx="219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051A68-1987-4777-A1AE-9F0F5C424C56}"/>
              </a:ext>
            </a:extLst>
          </p:cNvPr>
          <p:cNvSpPr txBox="1"/>
          <p:nvPr/>
        </p:nvSpPr>
        <p:spPr>
          <a:xfrm>
            <a:off x="535716" y="4641935"/>
            <a:ext cx="219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96A614-7705-46B4-A676-B7E1FAB2E0DA}"/>
              </a:ext>
            </a:extLst>
          </p:cNvPr>
          <p:cNvSpPr txBox="1"/>
          <p:nvPr/>
        </p:nvSpPr>
        <p:spPr>
          <a:xfrm>
            <a:off x="851744" y="4277076"/>
            <a:ext cx="219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03374D-DC26-4D9A-963F-B538E6763B7B}"/>
              </a:ext>
            </a:extLst>
          </p:cNvPr>
          <p:cNvSpPr txBox="1"/>
          <p:nvPr/>
        </p:nvSpPr>
        <p:spPr>
          <a:xfrm>
            <a:off x="845060" y="4051537"/>
            <a:ext cx="219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6</a:t>
            </a: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5E9D3DB9-CE23-4297-A0C7-B33A176EB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6154" y="5074553"/>
            <a:ext cx="1551089" cy="167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5A7C8F8C-9B2C-43C4-A84B-DF7684E7D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214" y="5074553"/>
            <a:ext cx="1551089" cy="167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2DFB95F-F702-488F-865F-9B6E8787641D}"/>
              </a:ext>
            </a:extLst>
          </p:cNvPr>
          <p:cNvSpPr txBox="1"/>
          <p:nvPr/>
        </p:nvSpPr>
        <p:spPr>
          <a:xfrm>
            <a:off x="5076068" y="6073993"/>
            <a:ext cx="102235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- </a:t>
            </a:r>
            <a:r>
              <a:rPr lang="en-US" dirty="0"/>
              <a:t>O -</a:t>
            </a:r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2EDCA3-D1B3-4501-B695-F75A96BD9EBD}"/>
              </a:ext>
            </a:extLst>
          </p:cNvPr>
          <p:cNvSpPr txBox="1"/>
          <p:nvPr/>
        </p:nvSpPr>
        <p:spPr>
          <a:xfrm>
            <a:off x="5718089" y="6431657"/>
            <a:ext cx="62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O</a:t>
            </a:r>
            <a:endParaRPr lang="ru-RU" dirty="0"/>
          </a:p>
        </p:txBody>
      </p:sp>
      <p:sp>
        <p:nvSpPr>
          <p:cNvPr id="32" name="Стрелка: вниз 31">
            <a:extLst>
              <a:ext uri="{FF2B5EF4-FFF2-40B4-BE49-F238E27FC236}">
                <a16:creationId xmlns:a16="http://schemas.microsoft.com/office/drawing/2014/main" id="{C6622E5E-25DF-4028-AB45-8A18DD665A5D}"/>
              </a:ext>
            </a:extLst>
          </p:cNvPr>
          <p:cNvSpPr/>
          <p:nvPr/>
        </p:nvSpPr>
        <p:spPr>
          <a:xfrm rot="19012596">
            <a:off x="5601228" y="6419507"/>
            <a:ext cx="76200" cy="2827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9DFA4-4CD1-4AC4-9352-9941DFCC9D55}"/>
              </a:ext>
            </a:extLst>
          </p:cNvPr>
          <p:cNvSpPr txBox="1"/>
          <p:nvPr/>
        </p:nvSpPr>
        <p:spPr>
          <a:xfrm>
            <a:off x="5318760" y="5604044"/>
            <a:ext cx="62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00B0F0"/>
                </a:solidFill>
              </a:rPr>
              <a:t>α</a:t>
            </a:r>
            <a:r>
              <a:rPr lang="en-US" dirty="0">
                <a:solidFill>
                  <a:srgbClr val="00B0F0"/>
                </a:solidFill>
              </a:rPr>
              <a:t>1-4</a:t>
            </a:r>
            <a:endParaRPr lang="ru-RU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13A6E-9203-4C1C-80F5-4E8E54265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Амилоза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EBE2BB-5D95-4FB0-A9EE-57B62787D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1300" y="1825625"/>
            <a:ext cx="8573135" cy="435229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Амилоза - цепь из 200 таких молекул, крахмал. Замечательно удобная молекула, а удобна она тем, что когда соединяем много глюкозных остатков вместе. Физическое обоснование - если 200 штук соединены вместе, то они образуют одну кинетическую частицу, значит осмотическое давление такого раствора будет в 200 раз меньше, чем раствор глюкозы из того же количества молекул. Это страшная вещь, если бы сделать из них свободно концентрированный раствор, то клетку разорвет вода.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AC4342C-ACAE-495E-A1E1-9AE799732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0" y="2215516"/>
            <a:ext cx="2095500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293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CA5E38-8444-4659-95F7-0020BCD4E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Гликоген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5A7D00-E515-40C8-84C0-1F1986F67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294" y="1937504"/>
            <a:ext cx="7879715" cy="3312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часть молекул в цепочке кроме связи 1-4, еще могут соединяться связью 1-6, так получаются ветвления, ветвление может быть частым. Такой ветвящийся сахарид называется гликогеном. гликоген компактен, удобен, экономен, но затрудняется его использование. </a:t>
            </a:r>
          </a:p>
          <a:p>
            <a:pPr marL="0" indent="0">
              <a:buNone/>
            </a:pPr>
            <a:r>
              <a:rPr lang="ru-RU" sz="1600" dirty="0"/>
              <a:t>В крахмале мы отрываем от молекулы по кольцу, сжигаем его в гликолизе и всем хорошо, а в гликогене, как только мы подходим к ветвлению, мы этого сделать уже не можем - нужен специальный фермент, который не боится связи 1-6 - это большая эволюционная задача, не все с ней справляются.</a:t>
            </a:r>
          </a:p>
          <a:p>
            <a:pPr marL="0" indent="0">
              <a:buNone/>
            </a:pPr>
            <a:r>
              <a:rPr lang="ru-RU" sz="1600" dirty="0"/>
              <a:t>Конечно, все намного сложнее, настоящие деятели здесь белки, все в них, все зависит от их специфичности, какие они узнают связи, пространственные фигуры, а мы рисуем чистую химическую схему, хотя за каждой из них стоит огромная, наверное очень большая молекула белка.</a:t>
            </a:r>
          </a:p>
          <a:p>
            <a:pPr marL="0" indent="0">
              <a:buNone/>
            </a:pPr>
            <a:r>
              <a:rPr lang="ru-RU" sz="1600" dirty="0"/>
              <a:t>Итак, есть задача: питаться связями 1-4, дойти до 1-6, расщепить ее, прийти к свободной 1-4 связи или к чистой молекуле глюкозы и получать энергию в том же гликолизе, но есть тайна: кто и когда придумал вместо связи </a:t>
            </a:r>
            <a:r>
              <a:rPr lang="el-GR" sz="1600" dirty="0"/>
              <a:t>α</a:t>
            </a:r>
            <a:r>
              <a:rPr lang="ru-RU" sz="1600" dirty="0"/>
              <a:t>1-4 делать связи </a:t>
            </a:r>
            <a:r>
              <a:rPr lang="el-GR" sz="1600" dirty="0"/>
              <a:t>β</a:t>
            </a:r>
            <a:r>
              <a:rPr lang="ru-RU" sz="1600" dirty="0"/>
              <a:t>1-4?</a:t>
            </a:r>
          </a:p>
          <a:p>
            <a:pPr marL="0" indent="0">
              <a:buNone/>
            </a:pPr>
            <a:r>
              <a:rPr lang="ru-RU" sz="1600" dirty="0"/>
              <a:t>Как только мы делаем связь </a:t>
            </a:r>
            <a:r>
              <a:rPr lang="el-GR" sz="1600" dirty="0"/>
              <a:t>β</a:t>
            </a:r>
            <a:r>
              <a:rPr lang="ru-RU" sz="1600" dirty="0"/>
              <a:t>1-4 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89370C4-F014-4C1E-8F6A-39FB725DB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34" y="1721753"/>
            <a:ext cx="1551089" cy="167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1429C84-AB7C-4041-9404-C182B41B7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494" y="1721753"/>
            <a:ext cx="1551089" cy="167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3A7929-F044-496E-8F5C-6B104DBBD35E}"/>
              </a:ext>
            </a:extLst>
          </p:cNvPr>
          <p:cNvSpPr txBox="1"/>
          <p:nvPr/>
        </p:nvSpPr>
        <p:spPr>
          <a:xfrm rot="18041586">
            <a:off x="1095069" y="2205593"/>
            <a:ext cx="1571258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- </a:t>
            </a:r>
            <a:r>
              <a:rPr lang="en-US" dirty="0"/>
              <a:t>O -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EA711-A98B-4D68-A934-A62179A4FE9C}"/>
              </a:ext>
            </a:extLst>
          </p:cNvPr>
          <p:cNvSpPr txBox="1"/>
          <p:nvPr/>
        </p:nvSpPr>
        <p:spPr>
          <a:xfrm>
            <a:off x="1862369" y="3078857"/>
            <a:ext cx="62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O</a:t>
            </a:r>
            <a:endParaRPr lang="ru-RU" dirty="0"/>
          </a:p>
        </p:txBody>
      </p:sp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5C7435EF-28BB-4C9A-A01D-95569F2F6B34}"/>
              </a:ext>
            </a:extLst>
          </p:cNvPr>
          <p:cNvSpPr/>
          <p:nvPr/>
        </p:nvSpPr>
        <p:spPr>
          <a:xfrm rot="19012596">
            <a:off x="1745508" y="3066707"/>
            <a:ext cx="76200" cy="2827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9A314-3DC8-4405-8424-3CA2DBD45316}"/>
              </a:ext>
            </a:extLst>
          </p:cNvPr>
          <p:cNvSpPr txBox="1"/>
          <p:nvPr/>
        </p:nvSpPr>
        <p:spPr>
          <a:xfrm>
            <a:off x="1225852" y="1881909"/>
            <a:ext cx="62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00B0F0"/>
                </a:solidFill>
              </a:rPr>
              <a:t>α</a:t>
            </a:r>
            <a:r>
              <a:rPr lang="en-US" dirty="0">
                <a:solidFill>
                  <a:srgbClr val="00B0F0"/>
                </a:solidFill>
              </a:rPr>
              <a:t>1-</a:t>
            </a:r>
            <a:r>
              <a:rPr lang="ru-RU" dirty="0">
                <a:solidFill>
                  <a:srgbClr val="00B0F0"/>
                </a:solidFill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5CF7A-21F4-4E5C-B8A4-93071D155769}"/>
              </a:ext>
            </a:extLst>
          </p:cNvPr>
          <p:cNvSpPr txBox="1"/>
          <p:nvPr/>
        </p:nvSpPr>
        <p:spPr>
          <a:xfrm>
            <a:off x="1905058" y="1634707"/>
            <a:ext cx="624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HO</a:t>
            </a:r>
            <a:endParaRPr lang="ru-RU" sz="22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B15031-F256-4EB8-95D7-C7F08F29B2E2}"/>
              </a:ext>
            </a:extLst>
          </p:cNvPr>
          <p:cNvSpPr/>
          <p:nvPr/>
        </p:nvSpPr>
        <p:spPr>
          <a:xfrm>
            <a:off x="2749038" y="1721753"/>
            <a:ext cx="436122" cy="267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FC3E768-BD21-4EFC-83F5-959B9121B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62" y="3982656"/>
            <a:ext cx="3293421" cy="1454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718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CA5E38-8444-4659-95F7-0020BCD4E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Целлюлоза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5A7D00-E515-40C8-84C0-1F1986F67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294" y="1937504"/>
            <a:ext cx="7879715" cy="3312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Итак, есть задача: питаться связями 1-4, дойти до 1-6, расщепить ее, прийти к свободной 1-4 связи или к чистой молекуле глюкозы и получать энергию в том же гликолизе, но есть тайна: кто и когда придумал вместо связи </a:t>
            </a:r>
            <a:r>
              <a:rPr lang="el-GR" sz="1600" dirty="0"/>
              <a:t>α</a:t>
            </a:r>
            <a:r>
              <a:rPr lang="ru-RU" sz="1600" dirty="0"/>
              <a:t>1-4 делать связи </a:t>
            </a:r>
            <a:r>
              <a:rPr lang="el-GR" sz="1600" dirty="0"/>
              <a:t>β</a:t>
            </a:r>
            <a:r>
              <a:rPr lang="ru-RU" sz="1600" dirty="0"/>
              <a:t>1-4?</a:t>
            </a:r>
          </a:p>
          <a:p>
            <a:pPr marL="0" indent="0">
              <a:buNone/>
            </a:pPr>
            <a:r>
              <a:rPr lang="ru-RU" sz="1600" dirty="0"/>
              <a:t>Как только мы делаем связь </a:t>
            </a:r>
            <a:r>
              <a:rPr lang="el-GR" sz="1600" dirty="0"/>
              <a:t>β</a:t>
            </a:r>
            <a:r>
              <a:rPr lang="ru-RU" sz="1600" dirty="0"/>
              <a:t>1-4, это равносильно тому, что молекула поворачивается, получается чередование направлений. При первом взгляде нет проблем, создаем аминокислотную последовательность, приспосабливаемся к </a:t>
            </a:r>
            <a:r>
              <a:rPr lang="el-GR" sz="1600" dirty="0"/>
              <a:t>β</a:t>
            </a:r>
            <a:r>
              <a:rPr lang="ru-RU" sz="1600" dirty="0"/>
              <a:t> и разрываем связи..., однако, почему то ферменты, расщепляющие связи </a:t>
            </a:r>
            <a:r>
              <a:rPr lang="el-GR" sz="1600" dirty="0"/>
              <a:t>β</a:t>
            </a:r>
            <a:r>
              <a:rPr lang="ru-RU" sz="1600" dirty="0"/>
              <a:t>1-4 трудны, редки и тяжело дались эволюции и какое это счастье, что они медленно и плохо получались в </a:t>
            </a:r>
            <a:r>
              <a:rPr lang="ru-RU" sz="1600" dirty="0" err="1"/>
              <a:t>процемме</a:t>
            </a:r>
            <a:r>
              <a:rPr lang="ru-RU" sz="1600" dirty="0"/>
              <a:t> эволюции, потому что связи </a:t>
            </a:r>
            <a:r>
              <a:rPr lang="el-GR" sz="1600" dirty="0"/>
              <a:t>β</a:t>
            </a:r>
            <a:r>
              <a:rPr lang="ru-RU" sz="1600" dirty="0"/>
              <a:t>1-4 называются целлюлоза, это клетчатка. Вопрос, почему клетчатка просто так не съедобна, почему нет ферментов? Каков эволюционный смысл? Если бы фермент </a:t>
            </a:r>
            <a:r>
              <a:rPr lang="el-GR" sz="1600" dirty="0"/>
              <a:t>β</a:t>
            </a:r>
            <a:r>
              <a:rPr lang="ru-RU" sz="1600" dirty="0"/>
              <a:t>1-4 был легко доступен, то все было бы съедено. Поэтому ответ на вопрос - высшая биологическая целесообразность. Ненасытная жизнь съела бы всю траву, все деревья, всю целлюлозу и ничего бы не осталось, поэтому связи </a:t>
            </a:r>
            <a:r>
              <a:rPr lang="el-GR" sz="1600" dirty="0"/>
              <a:t>β</a:t>
            </a:r>
            <a:r>
              <a:rPr lang="ru-RU" sz="1600" dirty="0"/>
              <a:t>1-4 не являются в основном прямыми поставщиками глюкозы для дальнейшего гликолиза.</a:t>
            </a:r>
          </a:p>
          <a:p>
            <a:pPr marL="0" indent="0">
              <a:buNone/>
            </a:pPr>
            <a:r>
              <a:rPr lang="ru-RU" sz="1600" dirty="0"/>
              <a:t>Жизнь травоядных от слонов до насекомых сами есть не могут </a:t>
            </a:r>
            <a:r>
              <a:rPr lang="el-GR" sz="1600" dirty="0"/>
              <a:t>β</a:t>
            </a:r>
            <a:r>
              <a:rPr lang="ru-RU" sz="1600" dirty="0"/>
              <a:t>1-4 , они все это измельчают, готовят пищевую массу, которую съедают микробы, а у слонов, цепочка еще длиннее. Такие пищевые цепи также требуют ответа на </a:t>
            </a:r>
            <a:r>
              <a:rPr lang="ru-RU" sz="1600"/>
              <a:t>вопрос почему?</a:t>
            </a:r>
            <a:endParaRPr lang="ru-RU" sz="1600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9A314-3DC8-4405-8424-3CA2DBD45316}"/>
              </a:ext>
            </a:extLst>
          </p:cNvPr>
          <p:cNvSpPr txBox="1"/>
          <p:nvPr/>
        </p:nvSpPr>
        <p:spPr>
          <a:xfrm>
            <a:off x="1507643" y="1673820"/>
            <a:ext cx="62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00B0F0"/>
                </a:solidFill>
              </a:rPr>
              <a:t>β</a:t>
            </a:r>
            <a:r>
              <a:rPr lang="en-US" dirty="0">
                <a:solidFill>
                  <a:srgbClr val="00B0F0"/>
                </a:solidFill>
              </a:rPr>
              <a:t>1-</a:t>
            </a:r>
            <a:r>
              <a:rPr lang="ru-RU" dirty="0">
                <a:solidFill>
                  <a:srgbClr val="00B0F0"/>
                </a:solidFill>
              </a:rPr>
              <a:t>4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1873D14-B9F3-4D83-98DF-543BA16C6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1597343"/>
            <a:ext cx="2609850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Растительноядные животные: все, что вы о них не знаете и хотели бы знать">
            <a:extLst>
              <a:ext uri="{FF2B5EF4-FFF2-40B4-BE49-F238E27FC236}">
                <a16:creationId xmlns:a16="http://schemas.microsoft.com/office/drawing/2014/main" id="{A9D5FBB2-2961-4621-A125-007F74823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93" y="3235643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2569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Pages>8</Pages>
  <Words>1780</Words>
  <Characters>0</Characters>
  <Application>Microsoft Office PowerPoint</Application>
  <DocSecurity>0</DocSecurity>
  <PresentationFormat>Широкоэкранный</PresentationFormat>
  <Lines>0</Lines>
  <Paragraphs>97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Georgia</vt:lpstr>
      <vt:lpstr>Kelson Sans RU</vt:lpstr>
      <vt:lpstr>Roboto</vt:lpstr>
      <vt:lpstr>Segoe UI</vt:lpstr>
      <vt:lpstr>Office Theme</vt:lpstr>
      <vt:lpstr>История и методология науки и техники в области биотехнических систем и технологий</vt:lpstr>
      <vt:lpstr>1780г - Молочная кислота</vt:lpstr>
      <vt:lpstr>1922 г - Нобелевкая премия, опыты Мейергофа природа мышечного сокращения</vt:lpstr>
      <vt:lpstr>1-я мировая война</vt:lpstr>
      <vt:lpstr>Участие фосфатов в преобразовании энергии</vt:lpstr>
      <vt:lpstr>Определение фосфатов</vt:lpstr>
      <vt:lpstr>Молочная кислота в мышечном сокращении</vt:lpstr>
      <vt:lpstr>1930г. Схема гликолиза</vt:lpstr>
      <vt:lpstr>Структуры полисахаридов: амилоза, гликоген, целлюлоза и хитин</vt:lpstr>
      <vt:lpstr>Амилоза</vt:lpstr>
      <vt:lpstr>Гликоген</vt:lpstr>
      <vt:lpstr>Целлюлоза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Ilya Juhnowski</dc:creator>
  <cp:lastModifiedBy>Ilya Juhnowski</cp:lastModifiedBy>
  <cp:revision>6</cp:revision>
  <dcterms:modified xsi:type="dcterms:W3CDTF">2021-12-21T20:35:34Z</dcterms:modified>
  <cp:version>9.103.88.44548</cp:version>
</cp:coreProperties>
</file>